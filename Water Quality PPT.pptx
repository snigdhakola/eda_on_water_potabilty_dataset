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5" r:id="rId17"/>
    <p:sldId id="274" r:id="rId18"/>
    <p:sldId id="276" r:id="rId19"/>
    <p:sldId id="277" r:id="rId20"/>
    <p:sldId id="278" r:id="rId21"/>
    <p:sldId id="279" r:id="rId22"/>
    <p:sldId id="280" r:id="rId23"/>
    <p:sldId id="281" r:id="rId24"/>
    <p:sldId id="283" r:id="rId25"/>
    <p:sldId id="271" r:id="rId26"/>
    <p:sldId id="282" r:id="rId27"/>
    <p:sldId id="284" r:id="rId28"/>
    <p:sldId id="285" r:id="rId29"/>
    <p:sldId id="259" r:id="rId30"/>
  </p:sldIdLst>
  <p:sldSz cx="12192000" cy="6858000"/>
  <p:notesSz cx="6858000" cy="9144000"/>
  <p:embeddedFontLst>
    <p:embeddedFont>
      <p:font typeface="Calisto MT" panose="02040603050505030304" pitchFamily="18" charset="0"/>
      <p:regular r:id="rId32"/>
      <p:bold r:id="rId33"/>
      <p:italic r:id="rId34"/>
      <p:boldItalic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Imprint MT Shadow" panose="04020605060303030202" pitchFamily="82" charset="0"/>
      <p:regular r:id="rId40"/>
    </p:embeddedFont>
    <p:embeddedFont>
      <p:font typeface="Libre Baskerville" panose="020B0604020202020204" charset="0"/>
      <p:regular r:id="rId41"/>
      <p:bold r:id="rId42"/>
      <p: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0" y="-314960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9;p1"/>
          <p:cNvSpPr txBox="1"/>
          <p:nvPr/>
        </p:nvSpPr>
        <p:spPr>
          <a:xfrm>
            <a:off x="785090" y="2613893"/>
            <a:ext cx="10908146" cy="172350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dirty="0" smtClean="0">
                <a:solidFill>
                  <a:schemeClr val="tx1"/>
                </a:solidFill>
                <a:latin typeface="Imprint MT Shadow" panose="04020605060303030202" pitchFamily="82" charset="0"/>
              </a:rPr>
              <a:t>Water Quality-Drinking </a:t>
            </a:r>
            <a:r>
              <a:rPr lang="en-US" sz="4400" b="1" dirty="0">
                <a:solidFill>
                  <a:schemeClr val="tx1"/>
                </a:solidFill>
                <a:latin typeface="Imprint MT Shadow" panose="04020605060303030202" pitchFamily="82" charset="0"/>
              </a:rPr>
              <a:t>water </a:t>
            </a:r>
            <a:r>
              <a:rPr lang="en-US" sz="4400" b="1" dirty="0" smtClean="0">
                <a:solidFill>
                  <a:schemeClr val="tx1"/>
                </a:solidFill>
                <a:latin typeface="Imprint MT Shadow" panose="04020605060303030202" pitchFamily="82" charset="0"/>
              </a:rPr>
              <a:t>potability</a:t>
            </a:r>
            <a:endParaRPr lang="en-US" sz="3200" b="1" dirty="0" smtClean="0">
              <a:solidFill>
                <a:schemeClr val="tx1"/>
              </a:solidFill>
              <a:latin typeface="Imprint MT Shadow" panose="04020605060303030202" pitchFamily="82" charset="0"/>
            </a:endParaRPr>
          </a:p>
          <a:p>
            <a:pPr fontAlgn="base"/>
            <a:r>
              <a:rPr lang="en-US" sz="3200" b="1" dirty="0">
                <a:solidFill>
                  <a:schemeClr val="tx1"/>
                </a:solidFill>
                <a:latin typeface="Imprint MT Shadow" panose="04020605060303030202" pitchFamily="82" charset="0"/>
              </a:rPr>
              <a:t> </a:t>
            </a:r>
            <a:r>
              <a:rPr lang="en-US" sz="3200" b="1" dirty="0" smtClean="0">
                <a:solidFill>
                  <a:schemeClr val="tx1"/>
                </a:solidFill>
                <a:latin typeface="Imprint MT Shadow" panose="04020605060303030202" pitchFamily="82" charset="0"/>
              </a:rPr>
              <a:t>                                   </a:t>
            </a:r>
            <a:r>
              <a:rPr lang="en-US" sz="4400" b="1" dirty="0" smtClean="0">
                <a:solidFill>
                  <a:schemeClr val="tx1"/>
                </a:solidFill>
                <a:latin typeface="Imprint MT Shadow" panose="04020605060303030202" pitchFamily="82" charset="0"/>
              </a:rPr>
              <a:t>Data Set</a:t>
            </a:r>
            <a:endParaRPr sz="4400" b="1" dirty="0">
              <a:solidFill>
                <a:schemeClr val="tx1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754888" y="4793673"/>
            <a:ext cx="34359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listo MT" panose="02040603050505030304" pitchFamily="18" charset="0"/>
              </a:rPr>
              <a:t>Presented by:</a:t>
            </a:r>
          </a:p>
          <a:p>
            <a:r>
              <a:rPr lang="en-US" sz="3200" b="1" dirty="0" smtClean="0">
                <a:latin typeface="Calisto MT" panose="02040603050505030304" pitchFamily="18" charset="0"/>
              </a:rPr>
              <a:t>Snigdha Kola</a:t>
            </a:r>
            <a:endParaRPr lang="en-IN" sz="3200" b="1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2847583" y="342663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55782" y="1200727"/>
            <a:ext cx="10972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water potability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contains a dataset for analyzing water quality to predict potability.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key chemical and physical parameters measured across multiple samples, suitable for exploratory data analysis (EDA) in data science tasks like classification modeling.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Measures acidity/alkalinity levels, typically ranging from low to high values like 1.43 to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11.9.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Hardness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Indicates mineral content, affecting water usability, with values around 47 to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Solids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Total dissolved solids impacting taste and safety, often in thousands (e.g., 300-8000 ppm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columns: Chloramines (disinfectant), Sulfate, Conductivity, Organic_carbon, Trihalomethanes (THMs), Turbidity (cloudiness).​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Potability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Binary label (0: non-potable, 1: potable), used for supervised learning to classify safe drinking water.​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37527" y="332509"/>
            <a:ext cx="628996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cap="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b="1" u="sng" cap="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u="sng" cap="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endParaRPr lang="en-US" u="sng" dirty="0" smtClean="0"/>
          </a:p>
          <a:p>
            <a:endParaRPr lang="en-US" u="sng" dirty="0"/>
          </a:p>
          <a:p>
            <a:endParaRPr lang="en-IN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230909" y="1052945"/>
            <a:ext cx="1173018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3280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and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capturing information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Quality-Drinking water 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potability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 set is focusing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water quality parameters for potability prediction. It features numeric features with some missing values and a binary target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Columns : ph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Hardness, Solids, Chloramines,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Sulphate,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Conductivity,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Organic carbon,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Trihalomethanes, Turbidity (predictors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Potability (target: 0 non-potable, 1 potable).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96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1893" y="1302327"/>
            <a:ext cx="1141614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smtClean="0"/>
              <a:t>ph</a:t>
            </a:r>
            <a:r>
              <a:rPr lang="en-IN" sz="1600" dirty="0" smtClean="0"/>
              <a:t>: </a:t>
            </a:r>
            <a:r>
              <a:rPr lang="en-IN" sz="1600" dirty="0"/>
              <a:t>Acidity level (mean 7.08, std 1.60, range 0-14); neutral around 7, extremes may indicate contamination.</a:t>
            </a:r>
            <a:r>
              <a:rPr lang="en-IN" sz="1600" dirty="0" smtClean="0"/>
              <a:t>​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Hardness</a:t>
            </a:r>
            <a:r>
              <a:rPr lang="en-IN" sz="1600" dirty="0"/>
              <a:t>: Calcium/magnesium content (mean 196, std 33, range 47-323); higher values suggest scaling issues</a:t>
            </a:r>
            <a:r>
              <a:rPr lang="en-IN" sz="1600" dirty="0" smtClean="0"/>
              <a:t>.</a:t>
            </a:r>
          </a:p>
          <a:p>
            <a:r>
              <a:rPr lang="en-IN" sz="1600" dirty="0" smtClean="0"/>
              <a:t>​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Solids</a:t>
            </a:r>
            <a:r>
              <a:rPr lang="en-IN" sz="1600" dirty="0"/>
              <a:t>: Dissolved solids (mean 22014 ppm, std 8766, range 321-61227); affects taste and purity</a:t>
            </a:r>
            <a:r>
              <a:rPr lang="en-IN" sz="1600" dirty="0" smtClean="0"/>
              <a:t>.</a:t>
            </a:r>
          </a:p>
          <a:p>
            <a:r>
              <a:rPr lang="en-IN" sz="1600" dirty="0" smtClean="0"/>
              <a:t>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smtClean="0"/>
              <a:t>Chloramines</a:t>
            </a:r>
            <a:r>
              <a:rPr lang="en-IN" sz="1600" dirty="0"/>
              <a:t>: Disinfectant residual (mean 7.12, std 1.58, range 0.35-13.13); prevents regrowth but high levels </a:t>
            </a:r>
            <a:r>
              <a:rPr lang="en-IN" sz="1600" dirty="0" smtClean="0"/>
              <a:t>toxic</a:t>
            </a:r>
          </a:p>
          <a:p>
            <a:r>
              <a:rPr lang="en-IN" sz="1600" dirty="0" smtClean="0"/>
              <a:t>.</a:t>
            </a:r>
            <a:r>
              <a:rPr lang="en-IN" sz="1600" dirty="0"/>
              <a:t>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Sulfate</a:t>
            </a:r>
            <a:r>
              <a:rPr lang="en-IN" sz="1600" dirty="0"/>
              <a:t>: Mineral ion (mean 334, std 41, range 129-481); excess causes laxative effects</a:t>
            </a:r>
            <a:r>
              <a:rPr lang="en-IN" sz="1600" dirty="0" smtClean="0"/>
              <a:t>.</a:t>
            </a:r>
          </a:p>
          <a:p>
            <a:r>
              <a:rPr lang="en-IN" sz="1600" dirty="0" smtClean="0"/>
              <a:t>​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Conductivity</a:t>
            </a:r>
            <a:r>
              <a:rPr lang="en-IN" sz="1600" dirty="0"/>
              <a:t>: Ion concentration proxy (mean 426, std 81, range 181-753); correlates with total dissolved ions.</a:t>
            </a:r>
            <a:r>
              <a:rPr lang="en-IN" sz="1600" dirty="0" smtClean="0"/>
              <a:t>​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smtClean="0"/>
              <a:t>Organic carbon</a:t>
            </a:r>
            <a:r>
              <a:rPr lang="en-IN" sz="1600" dirty="0" smtClean="0"/>
              <a:t>: </a:t>
            </a:r>
            <a:r>
              <a:rPr lang="en-IN" sz="1600" dirty="0"/>
              <a:t>Dissolved organics (mean 14.28, std 3.31, range 2.2-28.3); indicates pollution source.</a:t>
            </a:r>
            <a:r>
              <a:rPr lang="en-IN" sz="1600" dirty="0" smtClean="0"/>
              <a:t>​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Trihalomethanes (THMs)</a:t>
            </a:r>
            <a:r>
              <a:rPr lang="en-IN" sz="1600" dirty="0"/>
              <a:t>: </a:t>
            </a:r>
            <a:r>
              <a:rPr lang="en-IN" sz="1600" dirty="0" smtClean="0"/>
              <a:t>By product </a:t>
            </a:r>
            <a:r>
              <a:rPr lang="en-IN" sz="1600" dirty="0"/>
              <a:t>of disinfection (mean 66, std 16, range 0.74-124); carcinogenic at high levels</a:t>
            </a:r>
            <a:r>
              <a:rPr lang="en-IN" sz="1600" dirty="0" smtClean="0"/>
              <a:t>.</a:t>
            </a:r>
          </a:p>
          <a:p>
            <a:r>
              <a:rPr lang="en-IN" sz="1600" dirty="0" smtClean="0"/>
              <a:t>​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Turbidity</a:t>
            </a:r>
            <a:r>
              <a:rPr lang="en-IN" sz="1600" dirty="0"/>
              <a:t>: Cloudiness (mean 3.97, std 0.78, range 1.45-6.74); signals particulates affecting clarity.</a:t>
            </a:r>
            <a:br>
              <a:rPr lang="en-IN" sz="1600" dirty="0"/>
            </a:br>
            <a:endParaRPr lang="en-IN" sz="1600" dirty="0"/>
          </a:p>
        </p:txBody>
      </p:sp>
      <p:sp>
        <p:nvSpPr>
          <p:cNvPr id="3" name="Rectangle 2"/>
          <p:cNvSpPr/>
          <p:nvPr/>
        </p:nvSpPr>
        <p:spPr>
          <a:xfrm>
            <a:off x="2466108" y="138546"/>
            <a:ext cx="699192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KEY 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 OVERVIEW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416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73061" y="79330"/>
            <a:ext cx="49423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3200" b="1" u="sng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200" b="1" u="sng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6474" y="1034326"/>
            <a:ext cx="1027083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safe drinking water remains a global challenge, with pollution causing diseases especially in resource-limited areas. This dataset enables building machine learning models to predict water potability from 9 key physicochemical parameters, aiding rapid quality assessment without lab testing.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​​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 Objective: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water samples as potable (1) or non-potable (0) using supervised binary    classification.​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Addresses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 data (61% non-potable, 39% potable) via techniques like SMOTE oversampling.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​​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1.Missing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in critical features: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(15%), Sulfate (24%), Trihalomethanes (5%).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2.Handle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and normalize features (e.g., Z-score) for model robustness.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3.Feature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interactions: Parameters like THMs and turbidity correlate with contamination risks.</a:t>
            </a:r>
          </a:p>
        </p:txBody>
      </p:sp>
    </p:spTree>
    <p:extLst>
      <p:ext uri="{BB962C8B-B14F-4D97-AF65-F5344CB8AC3E}">
        <p14:creationId xmlns:p14="http://schemas.microsoft.com/office/powerpoint/2010/main" val="392777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22091" y="134748"/>
            <a:ext cx="45416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of import</a:t>
            </a:r>
            <a:endParaRPr lang="en-IN" sz="3200" b="1" u="sng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440" y="1161406"/>
            <a:ext cx="4493318" cy="19881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7382" y="3223491"/>
            <a:ext cx="856210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1.Numpy(np</a:t>
            </a:r>
            <a:r>
              <a:rPr lang="en-US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numerical operations such as arrays, mathematical computations, and handling missing values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Pandas(</a:t>
            </a:r>
            <a:r>
              <a:rPr lang="en-US" alt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US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data manipulation and analysis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3.Matplotlib (plt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basic plotting like line plots, scatter plots, bar charts, and histograms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Seaborn (sns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Makes it easy to create colorful and informative plots, e.g., count plots, box plots,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heatmaps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regression plots.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7864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80873" y="116275"/>
            <a:ext cx="42117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Loading 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file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85" y="1083610"/>
            <a:ext cx="6541621" cy="165035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3491" y="2967503"/>
            <a:ext cx="81095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89394" y="2967503"/>
            <a:ext cx="800362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first 5 rows of the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joins are used to </a:t>
            </a:r>
            <a:r>
              <a:rPr lang="en-US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preserve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quickly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inspect: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column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65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72577" y="217875"/>
            <a:ext cx="55915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DATA STRUCTURE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91" y="1196146"/>
            <a:ext cx="3414056" cy="446570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10036" y="1597208"/>
            <a:ext cx="43133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columns have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3275 data points.</a:t>
            </a:r>
          </a:p>
          <a:p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 belongs to object, float,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types.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687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27055" y="88566"/>
            <a:ext cx="33036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</a:t>
            </a:r>
            <a:endParaRPr lang="en-IN" sz="3200" u="sn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1" y="812799"/>
            <a:ext cx="11539782" cy="536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43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89" y="945295"/>
            <a:ext cx="10072784" cy="386314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703782" y="208640"/>
            <a:ext cx="531449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 SUMMARY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03563" y="480843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descriptive statistics for numerical columns only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count, mean, standard deviation, min, max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25%, 50% (median), and 75% percentiles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71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18873" y="153222"/>
            <a:ext cx="58432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MISSING VALUES</a:t>
            </a:r>
            <a:endParaRPr lang="en-US" sz="3200" b="1" u="sng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18" y="1060333"/>
            <a:ext cx="3880799" cy="456461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77891" y="1880529"/>
            <a:ext cx="328814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14% data is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Sulfate is 23% data is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Trihalomethanes 4% data is missing</a:t>
            </a:r>
          </a:p>
        </p:txBody>
      </p:sp>
    </p:spTree>
    <p:extLst>
      <p:ext uri="{BB962C8B-B14F-4D97-AF65-F5344CB8AC3E}">
        <p14:creationId xmlns:p14="http://schemas.microsoft.com/office/powerpoint/2010/main" val="426000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890479" y="240145"/>
            <a:ext cx="60933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152" y="954229"/>
            <a:ext cx="5601185" cy="533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66273" y="199403"/>
            <a:ext cx="27606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values 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918037" y="2077607"/>
            <a:ext cx="406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all unique values present in each column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Helps understand data categories and encoding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binary, categorical, and numerical features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237" y="1229886"/>
            <a:ext cx="4495953" cy="416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3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2509" y="4343630"/>
            <a:ext cx="42117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 from Boxplots of Numerical Columns: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generates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boxplots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all non-string (numerical) columns. Boxplots help identify: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Median and quartiles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Outliers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404518" y="264058"/>
            <a:ext cx="24593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endParaRPr lang="en-IN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69" y="1514919"/>
            <a:ext cx="3596952" cy="17222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291" y="1238659"/>
            <a:ext cx="6402328" cy="399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79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02926" y="125512"/>
            <a:ext cx="94355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u="sng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through Visualizations</a:t>
            </a:r>
            <a:endParaRPr lang="en-IN" sz="3200" b="1" u="sng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030" y="1012203"/>
            <a:ext cx="2973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u="sng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</a:t>
            </a:r>
            <a:r>
              <a:rPr lang="en-IN" sz="1800" b="1" u="sng" cap="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  <a:endParaRPr lang="en-IN" sz="1800" b="1" u="sng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30" y="2253672"/>
            <a:ext cx="5173812" cy="432403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88364" y="1381535"/>
            <a:ext cx="475015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 from Histograms: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Histograms display the frequency distribution of numerical columns. They help understand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 shape (normal, skewed, uniform)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spread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Presence of outliers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0364" y="1529562"/>
            <a:ext cx="2687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Histogram</a:t>
            </a:r>
            <a:r>
              <a:rPr lang="en-US" dirty="0" smtClean="0"/>
              <a:t>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5904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5431" y="716639"/>
            <a:ext cx="13665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b="1" dirty="0">
                <a:latin typeface="system-ui"/>
              </a:rPr>
              <a:t>KDE </a:t>
            </a:r>
            <a:r>
              <a:rPr lang="en-IN" sz="1800" b="1" dirty="0" smtClean="0">
                <a:latin typeface="system-ui"/>
              </a:rPr>
              <a:t>plot:</a:t>
            </a:r>
            <a:endParaRPr lang="en-IN" sz="1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13" y="1263427"/>
            <a:ext cx="6180356" cy="514394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38474" y="1911927"/>
            <a:ext cx="423949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with KDE shows that pH values are approximately normally distributed, with most observations clustered around the central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KDE curve confirms a single main peak, indicating no strong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number of observations appear at the extremes, suggesting minimal skewness.</a:t>
            </a:r>
          </a:p>
        </p:txBody>
      </p:sp>
    </p:spTree>
    <p:extLst>
      <p:ext uri="{BB962C8B-B14F-4D97-AF65-F5344CB8AC3E}">
        <p14:creationId xmlns:p14="http://schemas.microsoft.com/office/powerpoint/2010/main" val="1319769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22" y="1246909"/>
            <a:ext cx="6127569" cy="55343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6546" y="720436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 plot: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00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69" y="873064"/>
            <a:ext cx="6226080" cy="54259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564" y="581891"/>
            <a:ext cx="1302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84289" y="1677329"/>
            <a:ext cx="495069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1.here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plot shows the frequency distribution of potable and non-potable water samples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2.Non-potable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samples are more frequent than potable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ones.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3.This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a class imbalance in the target variable.</a:t>
            </a:r>
          </a:p>
        </p:txBody>
      </p:sp>
    </p:spTree>
    <p:extLst>
      <p:ext uri="{BB962C8B-B14F-4D97-AF65-F5344CB8AC3E}">
        <p14:creationId xmlns:p14="http://schemas.microsoft.com/office/powerpoint/2010/main" val="54510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51" y="1213919"/>
            <a:ext cx="4770533" cy="46333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7855" y="544945"/>
            <a:ext cx="2530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799" y="1991365"/>
            <a:ext cx="475672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illustrates the percentage distribution of potable and non-potable water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Non-potable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accounts for a larger portion of the dataset.   </a:t>
            </a:r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an imbalanced target variable that may need to be addressed during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400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40998" y="180930"/>
            <a:ext cx="5062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Data visualization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4036" y="988291"/>
            <a:ext cx="39716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(Numerical vs Numerical)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80" y="1449956"/>
            <a:ext cx="6668078" cy="52277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05964" y="2166963"/>
            <a:ext cx="476233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shows the relationship between pH and solids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concentration.</a:t>
            </a:r>
          </a:p>
          <a:p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are widely scattered, indicating a weak or no linear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relationship.</a:t>
            </a:r>
          </a:p>
          <a:p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trend or strong correlation is observed between the two variables</a:t>
            </a:r>
          </a:p>
        </p:txBody>
      </p:sp>
    </p:spTree>
    <p:extLst>
      <p:ext uri="{BB962C8B-B14F-4D97-AF65-F5344CB8AC3E}">
        <p14:creationId xmlns:p14="http://schemas.microsoft.com/office/powerpoint/2010/main" val="3345717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1745" y="424873"/>
            <a:ext cx="3990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  <a:r>
              <a:rPr lang="en-US" b="1" dirty="0" smtClean="0"/>
              <a:t>oxplot </a:t>
            </a:r>
            <a:r>
              <a:rPr lang="en-US" b="1" dirty="0"/>
              <a:t>(Numerical vs Categorical </a:t>
            </a:r>
            <a:r>
              <a:rPr lang="en-US" b="1" dirty="0" smtClean="0"/>
              <a:t>without outliers: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44" y="1976875"/>
            <a:ext cx="7216765" cy="39017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026399" y="1293384"/>
            <a:ext cx="332509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boxplot shows the central distribution of pH values for each potability category without the influence of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have similar median pH levels and interquartile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that pH distribution is largely consistent across potable and non-potable water samples.</a:t>
            </a:r>
          </a:p>
        </p:txBody>
      </p:sp>
    </p:spTree>
    <p:extLst>
      <p:ext uri="{BB962C8B-B14F-4D97-AF65-F5344CB8AC3E}">
        <p14:creationId xmlns:p14="http://schemas.microsoft.com/office/powerpoint/2010/main" val="2919152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91" y="1005267"/>
            <a:ext cx="6454699" cy="523539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0291" y="37188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violin plot(Numerical vs Categorical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19635" y="1843798"/>
            <a:ext cx="479367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and Density: Both violins exhibit symmetric, bell-like shapes with central peaks around pH 7, indicating near-normal distributions for potable and non-potable water.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and Spread: Medians align closely (~7.0-7.1), with similar interquartile widths (IQR ~1.5-2.0), showing overlapping variability across categories.​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Implication: Minimal divergence in violin profiles confirms pH lacks discriminatory power for potability prediction.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342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16" y="1790384"/>
            <a:ext cx="6104149" cy="462574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5743" y="938312"/>
            <a:ext cx="38459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Chart: Numerical vs Categorical</a:t>
            </a:r>
            <a:r>
              <a:rPr lang="en-IN" dirty="0"/>
              <a:t>*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1016" y="1790384"/>
            <a:ext cx="502458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represents the proportion of average pH contributed by each potability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potable and non-potable water contribute nearly equal shares to the overall average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pH.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that pH values are fairly similar across potability classes.</a:t>
            </a:r>
          </a:p>
        </p:txBody>
      </p:sp>
    </p:spTree>
    <p:extLst>
      <p:ext uri="{BB962C8B-B14F-4D97-AF65-F5344CB8AC3E}">
        <p14:creationId xmlns:p14="http://schemas.microsoft.com/office/powerpoint/2010/main" val="776100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74" y="896934"/>
            <a:ext cx="3627434" cy="11583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37" y="2167241"/>
            <a:ext cx="8206971" cy="43438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05891" y="200192"/>
            <a:ext cx="6677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</a:t>
            </a:r>
            <a:r>
              <a:rPr lang="en-IN" sz="1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05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95126" y="1175666"/>
            <a:ext cx="358370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 from the correlation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Heatmap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Heatmap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correlation between numerical variables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Color intensity represents strength and direction of correlation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range from -1 to +1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MonthlyCharges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a moderate positive correlationwitTotalCharges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68" y="890497"/>
            <a:ext cx="6378493" cy="537256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77455" y="282530"/>
            <a:ext cx="78139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u="sng" cap="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b="1" u="sng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5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96" y="1161395"/>
            <a:ext cx="3429297" cy="44428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3345" y="415636"/>
            <a:ext cx="294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29745" y="1748104"/>
            <a:ext cx="314036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pH value for both potable and non-potable water is close to neutral (~7). This shows that pH alone is not a strong factor in determining water potability.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02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19813" y="254821"/>
            <a:ext cx="768156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000" b="1" u="sng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– </a:t>
            </a:r>
            <a:r>
              <a:rPr lang="en-US" sz="2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Quality-Drinking water </a:t>
            </a:r>
            <a:r>
              <a:rPr lang="en-US" sz="20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potability Data Set</a:t>
            </a:r>
            <a:endParaRPr lang="en-US" sz="20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6618" y="1154545"/>
            <a:ext cx="837738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concise EDA overview of the Water Potability dataset (3,280 rows, 10 features). It reveals class imbalance and overlapping feature distributions, stressing multi-variable analysis.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9 predictors (pH, Hardness, Solids, etc.) + binary Potability target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Non-potable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samples dominate.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Plots &amp; Stats Histograms/KDE: Normal distributions for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pH/Hardness.</a:t>
            </a:r>
          </a:p>
          <a:p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Counts/Bars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Similar averages across classes (e.g., Turbidity ~3.97, Solids ~22k).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Takeaway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standalone predictor; clean data and model combinations for potability prediction.</a:t>
            </a:r>
          </a:p>
        </p:txBody>
      </p:sp>
    </p:spTree>
    <p:extLst>
      <p:ext uri="{BB962C8B-B14F-4D97-AF65-F5344CB8AC3E}">
        <p14:creationId xmlns:p14="http://schemas.microsoft.com/office/powerpoint/2010/main" val="181359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79445" y="125512"/>
            <a:ext cx="24641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u="sng" dirty="0"/>
              <a:t>Conclusion</a:t>
            </a:r>
            <a:r>
              <a:rPr lang="en-IN" dirty="0"/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63418" y="1173017"/>
            <a:ext cx="1041861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concludes that Water Potability data lacks clear single-feature separation. Overlapping distributions and imbalance indicate no easy predictor; multi-feature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essential.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Imbalance: 61% non-potable vs. 39% potable—requires resampling.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Overlaps: Means similar across classes (e.g., Turbidity 3.97, Hardness 196).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Issues: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Missing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pH (15%), Sulfate (24%).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86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1535</Words>
  <Application>Microsoft Office PowerPoint</Application>
  <PresentationFormat>Widescreen</PresentationFormat>
  <Paragraphs>211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Calisto MT</vt:lpstr>
      <vt:lpstr>Calibri</vt:lpstr>
      <vt:lpstr>system-ui</vt:lpstr>
      <vt:lpstr>Wingdings</vt:lpstr>
      <vt:lpstr>Arial</vt:lpstr>
      <vt:lpstr>Imprint MT Shadow</vt:lpstr>
      <vt:lpstr>Times New Roman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DELL</cp:lastModifiedBy>
  <cp:revision>31</cp:revision>
  <dcterms:created xsi:type="dcterms:W3CDTF">2021-02-16T05:19:01Z</dcterms:created>
  <dcterms:modified xsi:type="dcterms:W3CDTF">2026-01-10T05:42:15Z</dcterms:modified>
</cp:coreProperties>
</file>